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70" r:id="rId8"/>
    <p:sldId id="261" r:id="rId9"/>
    <p:sldId id="262" r:id="rId10"/>
    <p:sldId id="263" r:id="rId11"/>
    <p:sldId id="265" r:id="rId12"/>
    <p:sldId id="267" r:id="rId13"/>
    <p:sldId id="268" r:id="rId14"/>
    <p:sldId id="264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3451" autoAdjust="0"/>
  </p:normalViewPr>
  <p:slideViewPr>
    <p:cSldViewPr snapToGrid="0" snapToObjects="1">
      <p:cViewPr varScale="1">
        <p:scale>
          <a:sx n="82" d="100"/>
          <a:sy n="82" d="100"/>
        </p:scale>
        <p:origin x="447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7898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Совместный_отчёт_тетраэдр_LATEX_XE.pdf (предоставлено пользователем)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Совместный_отчёт_тетраэдр_LATEX_XE.pdf (предоставлено пользователем)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Совместный_отчёт_тетраэдр_LATEX_XE.pdf (предоставлено пользователем)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Совместный_отчёт_тетраэдр_LATEX_XE.pdf (раздел «Метод 1») (предоставлено пользователем)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170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Совместный_отчёт_тетраэдр_LATEX_XE.pdf (раздел «Метод 2») (предоставлено пользователем)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Совместный_отчёт_тетраэдр_LATEX_XE.pdf (раздел «Метод 3») (предоставлено пользователем)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Совместный_отчёт_тетраэдр_LATEX_XE.pdf (раздел «Метод 4») (предоставлено пользователем)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tetrahedron_variant_plot_black_edges.png (сгенерировано в ходе проекта)
- Совместный_отчёт_тетраэдр_LATEX_XE.pdf (раздел «Проверка тестовых точек») (предоставлено пользователем)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Совместный_отчёт_тетраэдр_LATEX_XE.pdf (предоставлено пользователем)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0876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работа:</a:t>
            </a:r>
            <a:endParaRPr lang="en-US" sz="5400" dirty="0"/>
          </a:p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Векторы и аналитическая</a:t>
            </a:r>
            <a:endParaRPr lang="en-US" sz="5400" dirty="0"/>
          </a:p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геометрия в прикладных</a:t>
            </a:r>
            <a:endParaRPr lang="en-US" sz="5400" dirty="0"/>
          </a:p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задачах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Цэрэндорж, Эльсайед, Набиев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Различными способами, используя методы векторной алгебры и</a:t>
            </a:r>
            <a:endParaRPr lang="en-US" sz="2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аналитической геометрии, проверить принадлежность точки тетраэдру.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Определить, принадлежит ли заданная точка P(x, y, z) тетраэдру.</a:t>
            </a:r>
            <a:endParaRPr lang="en-US" sz="2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Исследовать случаи: внутри; на грани; на ребре; совпадение с вершиной; снаружи.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Исходные данные и корректность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737360" cy="548640"/>
          </a:xfrm>
          <a:prstGeom prst="rect">
            <a:avLst/>
          </a:prstGeom>
          <a:solidFill>
            <a:srgbClr val="DCE6F1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Вершина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1417320"/>
            <a:ext cx="2743200" cy="548640"/>
          </a:xfrm>
          <a:prstGeom prst="rect">
            <a:avLst/>
          </a:prstGeom>
          <a:solidFill>
            <a:srgbClr val="DCE6F1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73736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0" y="1965960"/>
            <a:ext cx="274320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(1, 2, 0)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173736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0" y="2514600"/>
            <a:ext cx="274320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(2, 1, 0)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173736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60320" y="3063240"/>
            <a:ext cx="274320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(0, 2, 1)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173736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3611880"/>
            <a:ext cx="274320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(1, 0, 2)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1737360" cy="54864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D′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0" y="4160520"/>
            <a:ext cx="2743200" cy="54864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(1, 0, 3)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32120" y="141732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невырожденности (объём)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532120" y="1965960"/>
            <a:ext cx="6126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(1/6) · |det(AB, AC, AD)|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D=(1,0,2): det = 0 → V = 0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Тетраэдр вырожден ⇒ используем D′(1,0,3)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532120" y="4343400"/>
            <a:ext cx="6126480" cy="822960"/>
          </a:xfrm>
          <a:prstGeom prst="roundRect">
            <a:avLst/>
          </a:prstGeom>
          <a:solidFill>
            <a:srgbClr val="F3F3F3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4526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работаем с тетраэдром ABCD′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234440" cy="1234440"/>
          </a:xfrm>
          <a:prstGeom prst="ellips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83080" y="411480"/>
            <a:ext cx="10378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1: Знаки смешанных произведений (Цэрэндорж)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идея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каждой грани сравниваем знак ориентированного объёма.</a:t>
            </a:r>
            <a:endParaRPr lang="en-US" sz="2600" dirty="0"/>
          </a:p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(XY × XZ) · XW — для противоположной вершины W.</a:t>
            </a:r>
            <a:endParaRPr lang="en-US" sz="2600" dirty="0"/>
          </a:p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S(P) = (XY × XZ) · XP — для проверяемой точки P.</a:t>
            </a:r>
            <a:endParaRPr lang="en-US" sz="2600" dirty="0"/>
          </a:p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Критерий: S(P) · S(W) ≥ 0 для всех 4 граней.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0" y="1874520"/>
            <a:ext cx="4663440" cy="2926080"/>
          </a:xfrm>
          <a:prstGeom prst="roundRect">
            <a:avLst/>
          </a:prstGeom>
          <a:solidFill>
            <a:srgbClr val="F6F6F6"/>
          </a:solidFill>
          <a:ln w="12700">
            <a:solidFill>
              <a:srgbClr val="D0D0D0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12280" y="2011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Плюсы / минусы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12280" y="2468880"/>
            <a:ext cx="4297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Компактно, без явных плоскостей</a:t>
            </a: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Нужна аккуратность со знаками</a:t>
            </a: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Тот же принцип «по одну сторону грани»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BA718D-7A5E-4700-6504-1CD740200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983220" cy="49464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FF642B-3F06-3F0A-C050-38E897E89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104" y="0"/>
            <a:ext cx="5343896" cy="531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542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234440" cy="1234440"/>
          </a:xfrm>
          <a:prstGeom prst="ellips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83080" y="411480"/>
            <a:ext cx="10378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2: Метод объёмов (Эльсайед)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идея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5577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объём исходного тетраэдра V(ABCD′).</a:t>
            </a:r>
            <a:endParaRPr lang="en-US" sz="2600" dirty="0"/>
          </a:p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Разбиваем на 4 тетраэдра с вершиной в P: PBCD′, APCD′, ABPD′, ABCP.</a:t>
            </a:r>
            <a:endParaRPr lang="en-US" sz="2600" dirty="0"/>
          </a:p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P внутри/на границе, сумма объёмов равна исходному.</a:t>
            </a:r>
            <a:endParaRPr lang="en-US" sz="2600" dirty="0"/>
          </a:p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по числу нулевых объёмов (грань/ребро/вершина).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0" y="1874520"/>
            <a:ext cx="4663440" cy="2926080"/>
          </a:xfrm>
          <a:prstGeom prst="roundRect">
            <a:avLst/>
          </a:prstGeom>
          <a:solidFill>
            <a:srgbClr val="F6F6F6"/>
          </a:solidFill>
          <a:ln w="12700">
            <a:solidFill>
              <a:srgbClr val="D0D0D0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12280" y="2011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12280" y="2514600"/>
            <a:ext cx="4297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V(ABCD′) = V(PBCD′)+V(APCD′)+V(ABPD′)+V(ABCP)</a:t>
            </a: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сумма &gt; V(ABCD′) → точка снаружи.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D6430E-7DA0-A74E-DE82-CF9B9E815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311" y="661601"/>
            <a:ext cx="7011378" cy="5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494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234440" cy="1234440"/>
          </a:xfrm>
          <a:prstGeom prst="ellips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83080" y="411480"/>
            <a:ext cx="10378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3: Уравнения плоскостей (Набиев)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идея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109728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каждой грани строим плоскость: Ax+By+Cz+D=0.</a:t>
            </a:r>
            <a:endParaRPr lang="en-US" sz="2600" dirty="0"/>
          </a:p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Вводим f(P)=AxP+ByP+CzP+D.</a:t>
            </a:r>
            <a:endParaRPr lang="en-US" sz="2600" dirty="0"/>
          </a:p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«Правильная сторона» задаётся противоположной вершиной Vopp.</a:t>
            </a:r>
            <a:endParaRPr lang="en-US" sz="2600" dirty="0"/>
          </a:p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принадлежит тетраэдру, если знаки f(P) и f(Vopp) совпадают (или f(P)=0) для всех граней.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1560" y="5074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для ABCD′: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544068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x+y+z−3 ≥ 0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3x+3y+2z−9 ≤ 0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2x+3y+2z−8 ≤ 0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4x+5y+3z−13 ≥ 0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234440" cy="1234440"/>
          </a:xfrm>
          <a:prstGeom prst="ellips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83080" y="411480"/>
            <a:ext cx="10378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4: Ориентированные расстояния (Набиев)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идея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каждой грани используем ρ(P)=AxP+ByP+CzP+D (ориентированное расстояние без нормировки).</a:t>
            </a:r>
            <a:endParaRPr lang="en-US" sz="2600" dirty="0"/>
          </a:p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Сравниваем знак ρ(P) со знаком ρ(Vopp).</a:t>
            </a:r>
            <a:endParaRPr lang="en-US" sz="2600" dirty="0"/>
          </a:p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Критерий: ρ(P)·ρ(Vopp) ≥ 0 для всех граней.</a:t>
            </a:r>
            <a:endParaRPr lang="en-US" sz="2600" dirty="0"/>
          </a:p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нулей ρ(P)=0 определяет: грань/ребро/вершина.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37960" y="1600200"/>
            <a:ext cx="4709160" cy="4937760"/>
          </a:xfrm>
          <a:prstGeom prst="roundRect">
            <a:avLst/>
          </a:prstGeom>
          <a:solidFill>
            <a:srgbClr val="F6F6F6"/>
          </a:solidFill>
          <a:ln w="12700">
            <a:solidFill>
              <a:srgbClr val="D0D0D0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Замечание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766560" y="2240280"/>
            <a:ext cx="43891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Истинное расстояние</a:t>
            </a: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 = |Ax+By+Cz+D| / √(A²+B²+C²).</a:t>
            </a: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принадлежности нормировка не нужна: важны только знак и ноль.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точки и визуализация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577840" cy="4983480"/>
          </a:xfrm>
          <a:prstGeom prst="roundRect">
            <a:avLst/>
          </a:prstGeom>
          <a:solidFill>
            <a:srgbClr val="F6F6F6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737360"/>
            <a:ext cx="1463040" cy="566928"/>
          </a:xfrm>
          <a:prstGeom prst="rect">
            <a:avLst/>
          </a:prstGeom>
          <a:solidFill>
            <a:srgbClr val="E6E6E6"/>
          </a:solidFill>
          <a:ln w="12700">
            <a:solidFill>
              <a:srgbClr val="F6F6F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23160" y="1737360"/>
            <a:ext cx="2560320" cy="566928"/>
          </a:xfrm>
          <a:prstGeom prst="rect">
            <a:avLst/>
          </a:prstGeom>
          <a:solidFill>
            <a:srgbClr val="E6E6E6"/>
          </a:solidFill>
          <a:ln w="12700">
            <a:solidFill>
              <a:srgbClr val="F6F6F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983480" y="1737360"/>
            <a:ext cx="1097280" cy="566928"/>
          </a:xfrm>
          <a:prstGeom prst="rect">
            <a:avLst/>
          </a:prstGeom>
          <a:solidFill>
            <a:srgbClr val="E6E6E6"/>
          </a:solidFill>
          <a:ln w="12700">
            <a:solidFill>
              <a:srgbClr val="F6F6F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304288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P_vert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23160" y="2304288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(1, 2, 0)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83480" y="2304288"/>
            <a:ext cx="1097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вершина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871216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P_edge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23160" y="2871216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(3/2, 3/2, 0)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2871216"/>
            <a:ext cx="1097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ребро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3438144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P_face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23160" y="3438144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5/3, 1/3)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83480" y="3438144"/>
            <a:ext cx="1097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4005072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23160" y="4005072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5/4, 1)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83480" y="4005072"/>
            <a:ext cx="1097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457200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P_out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423160" y="4572000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(0, 0, 0)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83480" y="4572000"/>
            <a:ext cx="1097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6F6F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снаружи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92240" y="1580606"/>
            <a:ext cx="5257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3" name="Image 0" descr="/mnt/data/tetrahedron_variant_plot_black_ed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61808"/>
            <a:ext cx="5074920" cy="40945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ED2489-8B1D-C74A-ED38-5F51CF0C3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400"/>
            <a:ext cx="7560310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EBCA91-F232-6B62-9563-3B6AAAA58B50}"/>
              </a:ext>
            </a:extLst>
          </p:cNvPr>
          <p:cNvSpPr txBox="1"/>
          <p:nvPr/>
        </p:nvSpPr>
        <p:spPr>
          <a:xfrm>
            <a:off x="7560310" y="61719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P</a:t>
            </a:r>
            <a:r>
              <a:rPr lang="ru-RU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1 - внутри (1.0, 1.25, 1.0)</a:t>
            </a:r>
            <a:endParaRPr lang="ru-RU" sz="1600" kern="150" dirty="0">
              <a:effectLst/>
              <a:latin typeface="Liberation Serif"/>
              <a:ea typeface="NSimSun" panose="02010609030101010101" pitchFamily="49" charset="-122"/>
              <a:cs typeface="Arial" panose="020B0604020202020204" pitchFamily="34" charset="0"/>
            </a:endParaRPr>
          </a:p>
          <a:p>
            <a:pPr marL="0" marR="0">
              <a:buNone/>
            </a:pPr>
            <a:r>
              <a:rPr lang="en-US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P</a:t>
            </a:r>
            <a:r>
              <a:rPr lang="ru-RU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2 - на грани </a:t>
            </a:r>
            <a:r>
              <a:rPr lang="en-US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ABC</a:t>
            </a:r>
            <a:r>
              <a:rPr lang="ru-RU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 (0.6, 1.8, 0.6)</a:t>
            </a:r>
            <a:endParaRPr lang="ru-RU" sz="1600" kern="150" dirty="0">
              <a:effectLst/>
              <a:latin typeface="Liberation Serif"/>
              <a:ea typeface="NSimSun" panose="02010609030101010101" pitchFamily="49" charset="-122"/>
              <a:cs typeface="Arial" panose="020B0604020202020204" pitchFamily="34" charset="0"/>
            </a:endParaRPr>
          </a:p>
          <a:p>
            <a:pPr marL="0" marR="0">
              <a:buNone/>
            </a:pPr>
            <a:r>
              <a:rPr lang="en-US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P</a:t>
            </a:r>
            <a:r>
              <a:rPr lang="ru-RU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3 - на грани </a:t>
            </a:r>
            <a:r>
              <a:rPr lang="en-US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ABD</a:t>
            </a:r>
            <a:r>
              <a:rPr lang="ru-RU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' (1.3, 0.7, 1.5)</a:t>
            </a:r>
            <a:endParaRPr lang="ru-RU" sz="1600" kern="150" dirty="0">
              <a:effectLst/>
              <a:latin typeface="Liberation Serif"/>
              <a:ea typeface="NSimSun" panose="02010609030101010101" pitchFamily="49" charset="-122"/>
              <a:cs typeface="Arial" panose="020B0604020202020204" pitchFamily="34" charset="0"/>
            </a:endParaRPr>
          </a:p>
          <a:p>
            <a:pPr marL="0" marR="0">
              <a:buNone/>
            </a:pPr>
            <a:r>
              <a:rPr lang="en-US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P</a:t>
            </a:r>
            <a:r>
              <a:rPr lang="ru-RU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4 - на грани </a:t>
            </a:r>
            <a:r>
              <a:rPr lang="en-US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ACD</a:t>
            </a:r>
            <a:r>
              <a:rPr lang="ru-RU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' (0.7, 1.0, 1.8)</a:t>
            </a:r>
            <a:endParaRPr lang="ru-RU" sz="1600" kern="150" dirty="0">
              <a:effectLst/>
              <a:latin typeface="Liberation Serif"/>
              <a:ea typeface="NSimSun" panose="02010609030101010101" pitchFamily="49" charset="-122"/>
              <a:cs typeface="Arial" panose="020B0604020202020204" pitchFamily="34" charset="0"/>
            </a:endParaRPr>
          </a:p>
          <a:p>
            <a:pPr marL="0" marR="0">
              <a:buNone/>
            </a:pPr>
            <a:r>
              <a:rPr lang="en-US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P</a:t>
            </a:r>
            <a:r>
              <a:rPr lang="ru-RU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5 - на ребре </a:t>
            </a:r>
            <a:r>
              <a:rPr lang="en-US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AB</a:t>
            </a:r>
            <a:r>
              <a:rPr lang="ru-RU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 (1.5, 1.5, 0.0)</a:t>
            </a:r>
            <a:endParaRPr lang="ru-RU" sz="1600" kern="150" dirty="0">
              <a:effectLst/>
              <a:latin typeface="Liberation Serif"/>
              <a:ea typeface="NSimSun" panose="02010609030101010101" pitchFamily="49" charset="-122"/>
              <a:cs typeface="Arial" panose="020B0604020202020204" pitchFamily="34" charset="0"/>
            </a:endParaRPr>
          </a:p>
          <a:p>
            <a:pPr marL="0" marR="0">
              <a:buNone/>
            </a:pPr>
            <a:r>
              <a:rPr lang="en-US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P</a:t>
            </a:r>
            <a:r>
              <a:rPr lang="ru-RU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6 - на ребре </a:t>
            </a:r>
            <a:r>
              <a:rPr lang="en-US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AC</a:t>
            </a:r>
            <a:r>
              <a:rPr lang="ru-RU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 (0.5, 2.0, 0.5)</a:t>
            </a:r>
            <a:endParaRPr lang="ru-RU" sz="1600" kern="150" dirty="0">
              <a:effectLst/>
              <a:latin typeface="Liberation Serif"/>
              <a:ea typeface="NSimSun" panose="02010609030101010101" pitchFamily="49" charset="-122"/>
              <a:cs typeface="Arial" panose="020B0604020202020204" pitchFamily="34" charset="0"/>
            </a:endParaRPr>
          </a:p>
          <a:p>
            <a:pPr marL="0" marR="0">
              <a:buNone/>
            </a:pPr>
            <a:r>
              <a:rPr lang="en-US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P</a:t>
            </a:r>
            <a:r>
              <a:rPr lang="ru-RU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7 - вершина </a:t>
            </a:r>
            <a:r>
              <a:rPr lang="en-US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A</a:t>
            </a:r>
            <a:r>
              <a:rPr lang="ru-RU" sz="1800" b="1" kern="15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 (1.0, 2.0, 0.0)</a:t>
            </a:r>
            <a:endParaRPr lang="ru-RU" sz="1600" kern="150" dirty="0">
              <a:effectLst/>
              <a:latin typeface="Liberation Serif"/>
              <a:ea typeface="NSimSun" panose="0201060903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422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E73F43-F678-4A99-8167-C67937DDA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23"/>
            <a:ext cx="6754168" cy="48679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0C0234-4559-7A92-8A1F-44B19E7215A1}"/>
              </a:ext>
            </a:extLst>
          </p:cNvPr>
          <p:cNvSpPr txBox="1"/>
          <p:nvPr/>
        </p:nvSpPr>
        <p:spPr>
          <a:xfrm>
            <a:off x="6972300" y="506982"/>
            <a:ext cx="6096000" cy="2922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1019175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2 - на грани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ABC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(0.6, 1.8, 0.6)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1019175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3 - на грани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ABD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' (1.3, 0.7, 1.5)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1019175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4 - на грани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ACD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' (0.7, 1.0, 1.8)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1019175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5 - на ребре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AB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(1.5, 1.5, 0.0)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1019175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6 - на ребре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(0.5, 2.0, 0.5)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1019175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7 - вершина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(1.0, 2.0, 0.0)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  <a:tabLst>
                <a:tab pos="1019175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8 - снаружи (0.0, 0.0, 0.0)</a:t>
            </a:r>
          </a:p>
        </p:txBody>
      </p:sp>
    </p:spTree>
    <p:extLst>
      <p:ext uri="{BB962C8B-B14F-4D97-AF65-F5344CB8AC3E}">
        <p14:creationId xmlns:p14="http://schemas.microsoft.com/office/powerpoint/2010/main" val="3391101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2B5FC-6E65-C64A-963D-2356FCA9A3EE}"/>
              </a:ext>
            </a:extLst>
          </p:cNvPr>
          <p:cNvSpPr txBox="1"/>
          <p:nvPr/>
        </p:nvSpPr>
        <p:spPr>
          <a:xfrm>
            <a:off x="7826234" y="1562589"/>
            <a:ext cx="6096000" cy="334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1 - внутри (1.0, 1.25, 1.0)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2 - на грани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ABC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(0.6, 1.8, 0.6)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3 - на грани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ABD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' (1.3, 0.7, 1.5)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4 - на грани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ACD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' (0.7, 1.0, 1.8)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5 - на ребре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AB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(1.5, 1.5, 0.0)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6 - на ребре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(0.5, 2.0, 0.5)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7 - вершина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(1.0, 2.0, 0.0)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8 - снаружи (0.0, 0.0, 0.0)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EFDA52-30A2-7146-ACA6-47A65E878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69" y="436677"/>
            <a:ext cx="7560310" cy="559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11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68680" y="173736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Проверена корректность исходных данных: тетраэдр ABCD вырожден (V=0) → используется ABCD′.</a:t>
            </a:r>
            <a:endParaRPr lang="en-US" sz="2600" dirty="0"/>
          </a:p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1–2 дают критерии через смешанные произведения и объёмы.</a:t>
            </a:r>
            <a:endParaRPr lang="en-US" sz="2600" dirty="0"/>
          </a:p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3–4 </a:t>
            </a:r>
            <a:r>
              <a:rPr lang="en-US" sz="2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дают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наиболее наглядную проверку через 4 грани и систему неравенств.</a:t>
            </a:r>
            <a:endParaRPr lang="en-US" sz="2600" dirty="0"/>
          </a:p>
          <a:p>
            <a:pPr marL="279400" indent="-279400"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методы согласуются на тестовых точках: внутри / грань / ребро / вершина / снаружи.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6309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Спасибо!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1268</Words>
  <Application>Microsoft Office PowerPoint</Application>
  <PresentationFormat>Widescreen</PresentationFormat>
  <Paragraphs>136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Liberation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Ariunbat Tserendorj</cp:lastModifiedBy>
  <cp:revision>5</cp:revision>
  <dcterms:created xsi:type="dcterms:W3CDTF">2025-12-29T20:40:05Z</dcterms:created>
  <dcterms:modified xsi:type="dcterms:W3CDTF">2025-12-30T10:12:42Z</dcterms:modified>
</cp:coreProperties>
</file>